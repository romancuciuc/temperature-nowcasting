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5" r:id="rId9"/>
    <p:sldId id="266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DA16F-F4AF-423D-BE35-E7624F7A8FB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C9BE9-E6EE-4ABB-B6AE-B5D9EBC2B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2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0148" y="818984"/>
            <a:ext cx="4947184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142850"/>
                </a:solidFill>
              </a:defRPr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Temperature Nowcasting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48905" y="4797188"/>
            <a:ext cx="4538427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2200">
                <a:solidFill>
                  <a:srgbClr val="3C3C3C"/>
                </a:solidFill>
              </a:defRPr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1‑hour graph‑based forecasting with GCN over New York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1" y="586855"/>
            <a:ext cx="25859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7" y="649480"/>
            <a:ext cx="5877793" cy="5713220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GB" sz="1800" dirty="0"/>
              <a:t>Create a reproducible graph-based nowcasting model that predicts the next hour of weather for a fixed set of cities in New York State. Each city is treated as a graph node. To attach observations to a node, we map the city’s latitude/longitude to its nearest meteorological station and use that station’s hourly measurements as the city’s input signal. Edges connect geographically close cities  (k-nearest neighbours), allowing the model to propagate information across locations that influence one another (e.g., fronts moving from Syracuse toward Utica/Rome).</a:t>
            </a:r>
          </a:p>
          <a:p>
            <a:pPr>
              <a:lnSpc>
                <a:spcPct val="90000"/>
              </a:lnSpc>
            </a:pPr>
            <a:endParaRPr lang="en-GB" sz="1800" dirty="0"/>
          </a:p>
          <a:p>
            <a:pPr>
              <a:lnSpc>
                <a:spcPct val="90000"/>
              </a:lnSpc>
            </a:pPr>
            <a:endParaRPr lang="en-GB" sz="1800" dirty="0"/>
          </a:p>
          <a:p>
            <a:pPr>
              <a:lnSpc>
                <a:spcPct val="90000"/>
              </a:lnSpc>
            </a:pPr>
            <a:r>
              <a:rPr lang="en-GB" sz="1800" dirty="0"/>
              <a:t>The task is node-level prediction: for every city and at every inference step, the model forecasts 1 hour ahead the key surface variables needed for quick operational decisions—air temperature, wind speed, relative humidity, and snowfall rate. We focus on a one-hour horizon because it maximally benefits from the most recent observations while keeping physical dynamics locally coherent; this makes GCNs effective, as they aggregate each city’s recent time window with its neighbours' context.</a:t>
            </a:r>
          </a:p>
          <a:p>
            <a:pPr>
              <a:lnSpc>
                <a:spcPct val="90000"/>
              </a:lnSpc>
            </a:pPr>
            <a:endParaRPr lang="en-GB" sz="1800" dirty="0"/>
          </a:p>
          <a:p>
            <a:pPr>
              <a:lnSpc>
                <a:spcPct val="90000"/>
              </a:lnSpc>
            </a:pPr>
            <a:endParaRPr lang="en-GB" sz="1800" dirty="0"/>
          </a:p>
          <a:p>
            <a:pPr>
              <a:lnSpc>
                <a:spcPct val="90000"/>
              </a:lnSpc>
            </a:pPr>
            <a:r>
              <a:rPr lang="en-GB" sz="1800" dirty="0"/>
              <a:t>Training uses historical hourly data; at run time the system fetches live observations for the same cities, builds the latest window, and outputs the next-hour predictions for every node. The goal is not to beat large forecasting systems, but to deliver a clear, interpretable, and fast baseline that demonstrates how spatial graph structure + recent history can produce useful city-level nowcasts.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35091" y="369880"/>
            <a:ext cx="26997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rPr dirty="0"/>
              <a:t>Cities as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053070" cy="7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 sz="1600"/>
            </a:pPr>
            <a:r>
              <a:rPr sz="1700" dirty="0"/>
              <a:t>Predictions are produced per city. Below is the working set used in examples and outputs</a:t>
            </a:r>
            <a:r>
              <a:rPr lang="en-US" sz="1700" dirty="0"/>
              <a:t>.</a:t>
            </a:r>
          </a:p>
          <a:p>
            <a:pPr>
              <a:lnSpc>
                <a:spcPct val="80000"/>
              </a:lnSpc>
              <a:spcBef>
                <a:spcPct val="20000"/>
              </a:spcBef>
              <a:defRPr sz="1600"/>
            </a:pPr>
            <a:r>
              <a:rPr lang="en-US" sz="1700" dirty="0"/>
              <a:t>The pattern is “</a:t>
            </a:r>
            <a:r>
              <a:rPr lang="en-US" sz="1700" b="1" dirty="0"/>
              <a:t>City Name, State (longitude, latitude)</a:t>
            </a:r>
            <a:r>
              <a:rPr lang="en-US" sz="1700" dirty="0"/>
              <a:t>”.</a:t>
            </a:r>
            <a:r>
              <a:rPr lang="ru-RU" sz="1700" dirty="0"/>
              <a:t> </a:t>
            </a:r>
            <a:r>
              <a:rPr lang="en-US" sz="1700" dirty="0"/>
              <a:t>The “</a:t>
            </a:r>
            <a:r>
              <a:rPr lang="en-GB" sz="1700" dirty="0" err="1"/>
              <a:t>lon</a:t>
            </a:r>
            <a:r>
              <a:rPr lang="en-GB" sz="1700" dirty="0"/>
              <a:t>” and “</a:t>
            </a:r>
            <a:r>
              <a:rPr lang="en-GB" sz="1700" dirty="0" err="1"/>
              <a:t>lat</a:t>
            </a:r>
            <a:r>
              <a:rPr lang="en-GB" sz="1700" dirty="0"/>
              <a:t>” for the list below were taken from the nearest stations from each city.</a:t>
            </a:r>
            <a:endParaRPr sz="1700" dirty="0"/>
          </a:p>
        </p:txBody>
      </p:sp>
      <p:sp>
        <p:nvSpPr>
          <p:cNvPr id="4" name="TextBox 3"/>
          <p:cNvSpPr txBox="1"/>
          <p:nvPr/>
        </p:nvSpPr>
        <p:spPr>
          <a:xfrm>
            <a:off x="690880" y="2360682"/>
            <a:ext cx="8053070" cy="37548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b="1" dirty="0"/>
              <a:t>Utica, NY </a:t>
            </a:r>
            <a:r>
              <a:rPr lang="en-US" sz="1400" dirty="0"/>
              <a:t>(43.1009, -75.2327), </a:t>
            </a:r>
            <a:r>
              <a:rPr lang="en-US" sz="1400" b="1" dirty="0"/>
              <a:t>Rome, NY </a:t>
            </a:r>
            <a:r>
              <a:rPr lang="en-US" sz="1400" dirty="0"/>
              <a:t>(43.2128, -75.4557), </a:t>
            </a:r>
            <a:r>
              <a:rPr lang="en-US" sz="1400" b="1" dirty="0"/>
              <a:t>Newport, NY </a:t>
            </a:r>
            <a:r>
              <a:rPr lang="en-US" sz="1400" dirty="0"/>
              <a:t>(43.1906, -75.0179), </a:t>
            </a:r>
            <a:r>
              <a:rPr lang="en-US" sz="1400" b="1" dirty="0"/>
              <a:t>Herkimer, NY </a:t>
            </a:r>
            <a:r>
              <a:rPr lang="en-US" sz="1400" dirty="0"/>
              <a:t>(43.0256, -74.9854), </a:t>
            </a:r>
            <a:r>
              <a:rPr lang="en-US" sz="1400" b="1" dirty="0"/>
              <a:t>Oneida, NY </a:t>
            </a:r>
            <a:r>
              <a:rPr lang="en-US" sz="1400" dirty="0"/>
              <a:t>(43.0810, -75.6524), </a:t>
            </a:r>
            <a:r>
              <a:rPr lang="en-US" sz="1400" b="1" dirty="0"/>
              <a:t>Syracuse, NY </a:t>
            </a:r>
            <a:r>
              <a:rPr lang="en-US" sz="1400" dirty="0"/>
              <a:t>(43.0500, -76.1500), </a:t>
            </a:r>
            <a:r>
              <a:rPr lang="en-US" sz="1400" b="1" dirty="0"/>
              <a:t>Cicero, NY </a:t>
            </a:r>
            <a:r>
              <a:rPr lang="en-US" sz="1400" dirty="0"/>
              <a:t>(43.1758, -76.1142), </a:t>
            </a:r>
            <a:r>
              <a:rPr lang="en-US" sz="1400" b="1" dirty="0"/>
              <a:t>Auburn, NY </a:t>
            </a:r>
            <a:r>
              <a:rPr lang="en-US" sz="1400" dirty="0"/>
              <a:t>(42.9320, -76.5672), </a:t>
            </a:r>
            <a:r>
              <a:rPr lang="en-US" sz="1400" b="1" dirty="0"/>
              <a:t>Cortland, NY </a:t>
            </a:r>
            <a:r>
              <a:rPr lang="en-US" sz="1400" dirty="0"/>
              <a:t>(42.6012, -76.1805), </a:t>
            </a:r>
            <a:r>
              <a:rPr lang="en-US" sz="1400" b="1" dirty="0"/>
              <a:t>Oneida, NY </a:t>
            </a:r>
            <a:r>
              <a:rPr lang="en-US" sz="1400" dirty="0"/>
              <a:t>(43.0810, -75.6524), </a:t>
            </a:r>
            <a:r>
              <a:rPr lang="en-US" sz="1400" b="1" dirty="0"/>
              <a:t>Albany, NY </a:t>
            </a:r>
            <a:r>
              <a:rPr lang="en-US" sz="1400" dirty="0"/>
              <a:t>(42.6526, -73.7562), </a:t>
            </a:r>
            <a:r>
              <a:rPr lang="en-US" sz="1400" b="1" dirty="0"/>
              <a:t>Troy, NY </a:t>
            </a:r>
            <a:r>
              <a:rPr lang="en-US" sz="1400" dirty="0"/>
              <a:t>(42.7300, -73.6700), </a:t>
            </a:r>
            <a:r>
              <a:rPr lang="en-US" sz="1400" b="1" dirty="0"/>
              <a:t>Schenectady, NY </a:t>
            </a:r>
            <a:r>
              <a:rPr lang="en-US" sz="1400" dirty="0"/>
              <a:t>(42.8100, -73.9400), </a:t>
            </a:r>
            <a:r>
              <a:rPr lang="en-US" sz="1400" b="1" dirty="0"/>
              <a:t>Saratoga Springs, NY </a:t>
            </a:r>
            <a:r>
              <a:rPr lang="en-US" sz="1400" dirty="0"/>
              <a:t>(43.0830, -73.7840), </a:t>
            </a:r>
            <a:r>
              <a:rPr lang="en-US" sz="1400" b="1" dirty="0"/>
              <a:t>Hudson, NY </a:t>
            </a:r>
            <a:r>
              <a:rPr lang="en-US" sz="1400" dirty="0"/>
              <a:t>(42.2529, -73.7910), </a:t>
            </a:r>
            <a:r>
              <a:rPr lang="en-US" sz="1400" b="1" dirty="0"/>
              <a:t>Buffalo, NY </a:t>
            </a:r>
            <a:r>
              <a:rPr lang="en-US" sz="1400" dirty="0"/>
              <a:t>(42.8864, -78.8784), </a:t>
            </a:r>
            <a:r>
              <a:rPr lang="en-US" sz="1400" b="1" dirty="0"/>
              <a:t>Niagara Falls, NY </a:t>
            </a:r>
            <a:r>
              <a:rPr lang="en-US" sz="1400" dirty="0"/>
              <a:t>(43.0962, -79.0377), </a:t>
            </a:r>
            <a:r>
              <a:rPr lang="en-US" sz="1400" b="1" dirty="0"/>
              <a:t>Lockport, NY </a:t>
            </a:r>
            <a:r>
              <a:rPr lang="en-US" sz="1400" dirty="0"/>
              <a:t>(43.1706, -78.6903), </a:t>
            </a:r>
            <a:r>
              <a:rPr lang="en-US" sz="1400" b="1" dirty="0"/>
              <a:t>Hamburg, NY</a:t>
            </a:r>
            <a:r>
              <a:rPr lang="en-US" sz="1400" dirty="0"/>
              <a:t> (42.7159, -78.8295), </a:t>
            </a:r>
            <a:r>
              <a:rPr lang="en-US" sz="1400" b="1" dirty="0"/>
              <a:t>Batavia, NY </a:t>
            </a:r>
            <a:r>
              <a:rPr lang="en-US" sz="1400" dirty="0"/>
              <a:t>(42.9981, -78.1875), </a:t>
            </a:r>
            <a:r>
              <a:rPr lang="en-US" sz="1400" b="1" dirty="0"/>
              <a:t>Rochester, NY </a:t>
            </a:r>
            <a:r>
              <a:rPr lang="en-US" sz="1400" dirty="0"/>
              <a:t>(43.1610, -77.6109), </a:t>
            </a:r>
            <a:r>
              <a:rPr lang="en-US" sz="1400" b="1" dirty="0"/>
              <a:t>Greece, NY </a:t>
            </a:r>
            <a:r>
              <a:rPr lang="en-US" sz="1400" dirty="0"/>
              <a:t>(43.2098, -77.6931), </a:t>
            </a:r>
            <a:r>
              <a:rPr lang="en-US" sz="1400" b="1" dirty="0"/>
              <a:t>Henrietta, NY </a:t>
            </a:r>
            <a:r>
              <a:rPr lang="en-US" sz="1400" dirty="0"/>
              <a:t>(43.0364, -77.6120), </a:t>
            </a:r>
            <a:r>
              <a:rPr lang="en-US" sz="1400" b="1" dirty="0"/>
              <a:t>Canandaigua, NY </a:t>
            </a:r>
            <a:r>
              <a:rPr lang="en-US" sz="1400" dirty="0"/>
              <a:t>(42.8861, -77.2817), </a:t>
            </a:r>
            <a:r>
              <a:rPr lang="en-US" sz="1400" b="1" dirty="0"/>
              <a:t>Batavia, NY </a:t>
            </a:r>
            <a:r>
              <a:rPr lang="en-US" sz="1400" dirty="0"/>
              <a:t>(42.9981, -78.1875), </a:t>
            </a:r>
            <a:r>
              <a:rPr lang="en-US" sz="1400" b="1" dirty="0"/>
              <a:t>Binghamton, NY </a:t>
            </a:r>
            <a:r>
              <a:rPr lang="en-US" sz="1400" dirty="0"/>
              <a:t>(42.0987, -75.9180), </a:t>
            </a:r>
            <a:r>
              <a:rPr lang="en-US" sz="1400" b="1" dirty="0"/>
              <a:t>Johnson City, NY </a:t>
            </a:r>
            <a:r>
              <a:rPr lang="en-US" sz="1400" dirty="0"/>
              <a:t>(42.1156, -75.9588), </a:t>
            </a:r>
            <a:r>
              <a:rPr lang="en-US" sz="1400" b="1" dirty="0"/>
              <a:t>Endicott, NY </a:t>
            </a:r>
            <a:r>
              <a:rPr lang="en-US" sz="1400" dirty="0"/>
              <a:t>(42.0984, -76.0494), </a:t>
            </a:r>
            <a:r>
              <a:rPr lang="en-US" sz="1400" b="1" dirty="0"/>
              <a:t>Owego, NY </a:t>
            </a:r>
            <a:r>
              <a:rPr lang="en-US" sz="1400" dirty="0"/>
              <a:t>(42.1034, -76.2622), </a:t>
            </a:r>
            <a:r>
              <a:rPr lang="en-US" sz="1400" b="1" dirty="0"/>
              <a:t>Norwich, NY </a:t>
            </a:r>
            <a:r>
              <a:rPr lang="en-US" sz="1400" dirty="0"/>
              <a:t>(42.5312, -75.5235), </a:t>
            </a:r>
            <a:r>
              <a:rPr lang="en-US" sz="1400" b="1" dirty="0"/>
              <a:t>New York City, NY </a:t>
            </a:r>
            <a:r>
              <a:rPr lang="en-US" sz="1400" dirty="0"/>
              <a:t>(40.7143, -74.0060), </a:t>
            </a:r>
            <a:r>
              <a:rPr lang="en-US" sz="1400" b="1" dirty="0"/>
              <a:t>Yonkers, NY </a:t>
            </a:r>
            <a:r>
              <a:rPr lang="en-US" sz="1400" dirty="0"/>
              <a:t>(40.9312, -73.8987), </a:t>
            </a:r>
            <a:r>
              <a:rPr lang="en-US" sz="1400" b="1" dirty="0"/>
              <a:t>New Rochelle, NY </a:t>
            </a:r>
            <a:r>
              <a:rPr lang="en-US" sz="1400" dirty="0"/>
              <a:t>(40.9115, -73.7824), </a:t>
            </a:r>
            <a:r>
              <a:rPr lang="en-US" sz="1400" b="1" dirty="0"/>
              <a:t>White Plains, NY </a:t>
            </a:r>
            <a:r>
              <a:rPr lang="en-US" sz="1400" dirty="0"/>
              <a:t>(41.0340, -73.7629), </a:t>
            </a:r>
            <a:r>
              <a:rPr lang="en-US" sz="1400" b="1" dirty="0"/>
              <a:t>Hempstead, NY </a:t>
            </a:r>
            <a:r>
              <a:rPr lang="en-US" sz="1400" dirty="0"/>
              <a:t>(40.7062, -73.6187), </a:t>
            </a:r>
            <a:r>
              <a:rPr lang="en-US" sz="1400" b="1" dirty="0"/>
              <a:t>Ithaca, NY </a:t>
            </a:r>
            <a:r>
              <a:rPr lang="en-US" sz="1400" dirty="0"/>
              <a:t>(42.4440, -76.5019), </a:t>
            </a:r>
            <a:r>
              <a:rPr lang="en-US" sz="1400" b="1" dirty="0"/>
              <a:t>Cortland, NY </a:t>
            </a:r>
            <a:r>
              <a:rPr lang="en-US" sz="1400" dirty="0"/>
              <a:t>(42.6012, -76.1805), </a:t>
            </a:r>
            <a:r>
              <a:rPr lang="en-US" sz="1400" b="1" dirty="0"/>
              <a:t>Dryden, NY </a:t>
            </a:r>
            <a:r>
              <a:rPr lang="en-US" sz="1400" dirty="0"/>
              <a:t>(42.4909, -76.2972), </a:t>
            </a:r>
            <a:r>
              <a:rPr lang="en-US" sz="1400" b="1" dirty="0"/>
              <a:t>Trumansburg, NY </a:t>
            </a:r>
            <a:r>
              <a:rPr lang="en-US" sz="1400" dirty="0"/>
              <a:t>(42.5377, -76.6560), </a:t>
            </a:r>
            <a:r>
              <a:rPr lang="en-US" sz="1400" b="1" dirty="0"/>
              <a:t>Watkins Glen, NY </a:t>
            </a:r>
            <a:r>
              <a:rPr lang="en-US" sz="1400" dirty="0"/>
              <a:t>(42.3806, -76.8733), </a:t>
            </a:r>
            <a:r>
              <a:rPr lang="en-US" sz="1400" b="1" dirty="0"/>
              <a:t>Watertown, NY </a:t>
            </a:r>
            <a:r>
              <a:rPr lang="en-US" sz="1400" dirty="0"/>
              <a:t>(43.9748, -75.9108), </a:t>
            </a:r>
            <a:r>
              <a:rPr lang="en-US" sz="1400" b="1" dirty="0"/>
              <a:t>Sackets Harbor, NY </a:t>
            </a:r>
            <a:r>
              <a:rPr lang="en-US" sz="1400" dirty="0"/>
              <a:t>(43.9464, -76.1178), </a:t>
            </a:r>
            <a:r>
              <a:rPr lang="en-US" sz="1400" b="1" dirty="0"/>
              <a:t>Adams, NY </a:t>
            </a:r>
            <a:r>
              <a:rPr lang="en-US" sz="1400" dirty="0"/>
              <a:t>(43.8092, -76.0241), </a:t>
            </a:r>
            <a:r>
              <a:rPr lang="en-US" sz="1400" b="1" dirty="0"/>
              <a:t>Carthage, NY </a:t>
            </a:r>
            <a:r>
              <a:rPr lang="en-US" sz="1400" dirty="0"/>
              <a:t>(43.9781, -75.6094), </a:t>
            </a:r>
            <a:r>
              <a:rPr lang="en-US" sz="1400" b="1" dirty="0"/>
              <a:t>Lowville, NY </a:t>
            </a:r>
            <a:r>
              <a:rPr lang="en-US" sz="1400" dirty="0"/>
              <a:t>(43.7867, -75.4919), </a:t>
            </a:r>
            <a:r>
              <a:rPr lang="en-US" sz="1400" b="1" dirty="0"/>
              <a:t>Binghamton, NY</a:t>
            </a:r>
            <a:r>
              <a:rPr lang="en-US" sz="1400" dirty="0"/>
              <a:t> (42.0987, -75.9180), </a:t>
            </a:r>
            <a:r>
              <a:rPr lang="en-US" sz="1400" b="1" dirty="0"/>
              <a:t>Johnson City, NY </a:t>
            </a:r>
            <a:r>
              <a:rPr lang="en-US" sz="1400" dirty="0"/>
              <a:t>(42.1156, -75.9588), </a:t>
            </a:r>
            <a:r>
              <a:rPr lang="en-US" sz="1400" b="1" dirty="0"/>
              <a:t>Endicott, NY </a:t>
            </a:r>
            <a:r>
              <a:rPr lang="en-US" sz="1400" dirty="0"/>
              <a:t>(42.1018, -76.0528), </a:t>
            </a:r>
            <a:r>
              <a:rPr lang="en-US" sz="1400" b="1" dirty="0"/>
              <a:t>Owego, NY </a:t>
            </a:r>
            <a:r>
              <a:rPr lang="en-US" sz="1400" dirty="0"/>
              <a:t>(42.1044, -76.2633), </a:t>
            </a:r>
            <a:r>
              <a:rPr lang="en-US" sz="1400" b="1" dirty="0"/>
              <a:t>Norwich, NY </a:t>
            </a:r>
            <a:r>
              <a:rPr lang="en-US" sz="1400" dirty="0"/>
              <a:t>(42.5319, -75.5217)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 and workflow 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4AA19-1CA2-1217-518F-3C3422726194}"/>
                  </a:ext>
                </a:extLst>
              </p:cNvPr>
              <p:cNvSpPr txBox="1"/>
              <p:nvPr/>
            </p:nvSpPr>
            <p:spPr>
              <a:xfrm>
                <a:off x="372505" y="1848877"/>
                <a:ext cx="8549246" cy="4263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represent New York State as a weighted</a:t>
                </a:r>
                <a:r>
                  <a:rPr lang="en-US" b="1" dirty="0"/>
                  <a:t> k-nearest-neighbors graph</a:t>
                </a:r>
                <a:r>
                  <a:rPr lang="en-US" dirty="0"/>
                  <a:t> where each node is a city and edges connect geographically close cities. Using great-circle distances between city coordinates, we compute a weight matrix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dirty="0"/>
                  <a:t>(</a:t>
                </a:r>
                <a:r>
                  <a:rPr lang="en-US" i="1" dirty="0"/>
                  <a:t>higher weight = closer cities</a:t>
                </a:r>
                <a:r>
                  <a:rPr lang="en-US" dirty="0"/>
                  <a:t>) and then build the normalized adjacency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by adding self-loops and normalizing by node degrees. This matrix is precomputed once from the chosen city list and graph settings (e.g.,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distance kernel) and saved as </a:t>
                </a:r>
                <a:r>
                  <a:rPr lang="en-US" b="1" dirty="0" err="1"/>
                  <a:t>A_hat.npy</a:t>
                </a:r>
                <a:r>
                  <a:rPr lang="en-US" dirty="0"/>
                  <a:t>. The file stores the full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 matrix used by the GCN to mix each city’s signal with its neighbors at every forward pass. </a:t>
                </a:r>
              </a:p>
              <a:p>
                <a:endParaRPr lang="en-US" dirty="0"/>
              </a:p>
              <a:p>
                <a:r>
                  <a:rPr lang="en-US" dirty="0"/>
                  <a:t>For each city, the input window is the last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hourly observations (air temperature, wind speed, relative humidity, snowfall rate) taken from the city’s nearest weather station. A small temporal</a:t>
                </a:r>
                <a:r>
                  <a:rPr lang="en-US" b="1" dirty="0"/>
                  <a:t> CNN</a:t>
                </a:r>
                <a:r>
                  <a:rPr lang="en-US" dirty="0"/>
                  <a:t> compresses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b="1" i="1"/>
                      <m:t>features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history into a fixed-size vector. </a:t>
                </a:r>
                <a:r>
                  <a:rPr lang="en-GB" dirty="0"/>
                  <a:t>This is all combined into a summary with the trainable embedding of the city to form the current node state</a:t>
                </a:r>
                <a:r>
                  <a:rPr lang="en-US" dirty="0"/>
                  <a:t>. A </a:t>
                </a:r>
                <a:r>
                  <a:rPr lang="en-US" b="1" dirty="0"/>
                  <a:t>two-layer GCN</a:t>
                </a:r>
                <a:r>
                  <a:rPr lang="en-US" dirty="0"/>
                  <a:t> then propagates information across the graph using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ar-AE" dirty="0"/>
                  <a:t>, </a:t>
                </a:r>
                <a:r>
                  <a:rPr lang="en-US" dirty="0"/>
                  <a:t>and a final linear head produces the </a:t>
                </a:r>
                <a:r>
                  <a:rPr lang="en-US" b="1" dirty="0"/>
                  <a:t>1-hour-ahead node-level forecast</a:t>
                </a:r>
                <a:r>
                  <a:rPr lang="en-US" dirty="0"/>
                  <a:t> (temperature, wind speed, humidity, snowfall rate).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4AA19-1CA2-1217-518F-3C3422726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05" y="1848877"/>
                <a:ext cx="8549246" cy="4263860"/>
              </a:xfrm>
              <a:prstGeom prst="rect">
                <a:avLst/>
              </a:prstGeom>
              <a:blipFill>
                <a:blip r:embed="rId2"/>
                <a:stretch>
                  <a:fillRect l="-570" t="-714" r="-927" b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E7EBA6-A004-E310-E831-6CD1CC39D771}"/>
                  </a:ext>
                </a:extLst>
              </p:cNvPr>
              <p:cNvSpPr txBox="1"/>
              <p:nvPr/>
            </p:nvSpPr>
            <p:spPr>
              <a:xfrm>
                <a:off x="590551" y="236444"/>
                <a:ext cx="8204200" cy="606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During training, the model’s parameters (temporal CNN, embeddings, GCN layers, output head) are optimized on 12 months of hourly history. The best weights are saved to </a:t>
                </a:r>
                <a:r>
                  <a:rPr lang="en-US" b="1" dirty="0"/>
                  <a:t>best_model.pt</a:t>
                </a:r>
                <a:r>
                  <a:rPr lang="en-US" dirty="0"/>
                  <a:t>. This file is what project loads at inference: it contains the learned parameters that translate the latest input window into next-hour predictions. </a:t>
                </a:r>
                <a:r>
                  <a:rPr lang="en-GB" dirty="0"/>
                  <a:t>When retraining on new data, the </a:t>
                </a:r>
                <a:r>
                  <a:rPr lang="en-GB" b="1" dirty="0"/>
                  <a:t>best_model.pt </a:t>
                </a:r>
                <a:r>
                  <a:rPr lang="en-GB" dirty="0"/>
                  <a:t>file will be regenerated, allowing us to retrain the model. </a:t>
                </a:r>
                <a:r>
                  <a:rPr lang="en-US" dirty="0"/>
                  <a:t>At run time, the pipeline loads </a:t>
                </a:r>
                <a:r>
                  <a:rPr lang="en-US" b="1" dirty="0" err="1"/>
                  <a:t>A_hat.npy</a:t>
                </a:r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:r>
                  <a:rPr lang="en-US" b="1" dirty="0"/>
                  <a:t>best_model.pt</a:t>
                </a:r>
                <a:r>
                  <a:rPr lang="en-US" dirty="0"/>
                  <a:t>, ingests the most recent measurements for each city, and writes the next-hour forecasts to </a:t>
                </a:r>
                <a:r>
                  <a:rPr lang="en-US" b="1" dirty="0"/>
                  <a:t>predictions_next_hour.csv </a:t>
                </a:r>
                <a:r>
                  <a:rPr lang="en-US" dirty="0"/>
                  <a:t>with human-readable columns.</a:t>
                </a:r>
              </a:p>
              <a:p>
                <a:r>
                  <a:rPr lang="en-US" dirty="0"/>
                  <a:t>A single compact formula that captures the prediction principle: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  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i="1"/>
                        <m:t>  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∪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𝑣𝑢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ar-AE" dirty="0"/>
              </a:p>
              <a:p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𝛟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temporal </a:t>
                </a:r>
                <a:r>
                  <a:rPr lang="en-US" b="1" dirty="0"/>
                  <a:t>CNN</a:t>
                </a:r>
                <a:r>
                  <a:rPr lang="en-US" dirty="0"/>
                  <a:t> that summarizes the last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en-US" dirty="0"/>
                  <a:t> hours at node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, the sum mixes neighbor signals using graph weights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ar-AE" dirty="0"/>
                  <a:t>,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𝐠</m:t>
                    </m:r>
                    <m:d>
                      <m:d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is a small </a:t>
                </a:r>
                <a:r>
                  <a:rPr lang="en-US" b="1" dirty="0"/>
                  <a:t>MLP</a:t>
                </a:r>
                <a:r>
                  <a:rPr lang="en-US" dirty="0"/>
                  <a:t> producing the next-hour forecast for city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 Intuitively: each city’s next hour is a weighted blend of its own recent history and its neighbors’ recent histories.</a:t>
                </a:r>
              </a:p>
              <a:p>
                <a:r>
                  <a:rPr lang="en-US" dirty="0"/>
                  <a:t>Data flow. The model is trained on 12 months of hourly </a:t>
                </a:r>
                <a:r>
                  <a:rPr lang="en-US" b="1" dirty="0" err="1"/>
                  <a:t>Meteostat</a:t>
                </a:r>
                <a:r>
                  <a:rPr lang="en-US" dirty="0"/>
                  <a:t> history. At inference, the pipeline fetches live observations from </a:t>
                </a:r>
                <a:r>
                  <a:rPr lang="en-US" b="1" dirty="0"/>
                  <a:t>NOAA/NWS </a:t>
                </a:r>
                <a:r>
                  <a:rPr lang="en-US" dirty="0"/>
                  <a:t>for each city’s nearest station, forms the latest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en-US" b="1" dirty="0"/>
                  <a:t>-hour </a:t>
                </a:r>
                <a:r>
                  <a:rPr lang="en-US" dirty="0"/>
                  <a:t>window, and generates simultaneous next-hour forecasts for all cities.</a:t>
                </a:r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E7EBA6-A004-E310-E831-6CD1CC39D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1" y="236444"/>
                <a:ext cx="8204200" cy="6066404"/>
              </a:xfrm>
              <a:prstGeom prst="rect">
                <a:avLst/>
              </a:prstGeom>
              <a:blipFill>
                <a:blip r:embed="rId2"/>
                <a:stretch>
                  <a:fillRect l="-669" t="-603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11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n_graph.png">
            <a:extLst>
              <a:ext uri="{FF2B5EF4-FFF2-40B4-BE49-F238E27FC236}">
                <a16:creationId xmlns:a16="http://schemas.microsoft.com/office/drawing/2014/main" id="{F46FB05B-E00D-42BA-499E-957AB0657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79" y="1638935"/>
            <a:ext cx="5694045" cy="37960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048C0C-29D4-F038-E798-F499F5057DFE}"/>
              </a:ext>
            </a:extLst>
          </p:cNvPr>
          <p:cNvSpPr txBox="1"/>
          <p:nvPr/>
        </p:nvSpPr>
        <p:spPr>
          <a:xfrm>
            <a:off x="527050" y="5803900"/>
            <a:ext cx="8419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</a:t>
            </a:r>
            <a:r>
              <a:rPr lang="en-GB" dirty="0"/>
              <a:t>This </a:t>
            </a:r>
            <a:r>
              <a:rPr lang="en-GB" b="1" dirty="0"/>
              <a:t>k-NN</a:t>
            </a:r>
            <a:r>
              <a:rPr lang="en-GB" dirty="0"/>
              <a:t> graph represents several cities as nodes from our list, their actual locations, </a:t>
            </a:r>
          </a:p>
          <a:p>
            <a:r>
              <a:rPr lang="en-GB" dirty="0"/>
              <a:t>and the connections between them.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14E92-CF6F-E0F6-4376-45807CE1C27D}"/>
              </a:ext>
            </a:extLst>
          </p:cNvPr>
          <p:cNvSpPr txBox="1"/>
          <p:nvPr/>
        </p:nvSpPr>
        <p:spPr>
          <a:xfrm>
            <a:off x="622300" y="196850"/>
            <a:ext cx="7988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dirty="0"/>
          </a:p>
          <a:p>
            <a:r>
              <a:rPr lang="en-US" dirty="0"/>
              <a:t>Predictions are written to “</a:t>
            </a:r>
            <a:r>
              <a:rPr lang="en-US" b="1" dirty="0"/>
              <a:t>predictions_next_hour.csv</a:t>
            </a:r>
            <a:r>
              <a:rPr lang="en-US" dirty="0"/>
              <a:t>” with columns (temperature in °F, wind in m/s, humidity in %, snowfall in mm/h).</a:t>
            </a:r>
          </a:p>
        </p:txBody>
      </p:sp>
    </p:spTree>
    <p:extLst>
      <p:ext uri="{BB962C8B-B14F-4D97-AF65-F5344CB8AC3E}">
        <p14:creationId xmlns:p14="http://schemas.microsoft.com/office/powerpoint/2010/main" val="62350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6690277" cy="654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B0F19-FCBF-DF4C-5F2B-1AD29703695D}"/>
              </a:ext>
            </a:extLst>
          </p:cNvPr>
          <p:cNvSpPr txBox="1"/>
          <p:nvPr/>
        </p:nvSpPr>
        <p:spPr>
          <a:xfrm>
            <a:off x="419100" y="2343150"/>
            <a:ext cx="84582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model was trained on 12 months of hourly historical weather from </a:t>
            </a:r>
            <a:r>
              <a:rPr lang="en-GB" dirty="0" err="1"/>
              <a:t>Meteostat</a:t>
            </a:r>
            <a:r>
              <a:rPr lang="en-GB" dirty="0"/>
              <a:t> (accessed via </a:t>
            </a:r>
            <a:r>
              <a:rPr lang="en-GB" dirty="0" err="1"/>
              <a:t>RapidAPI</a:t>
            </a:r>
            <a:r>
              <a:rPr lang="en-GB" dirty="0"/>
              <a:t>) for the selected New York State cities. For each city, the nearest observation station was identified by latitude/longitude, and its hourly measurements were aggregated into a node time series.</a:t>
            </a:r>
            <a:r>
              <a:rPr lang="ru-RU" dirty="0"/>
              <a:t> </a:t>
            </a:r>
            <a:r>
              <a:rPr lang="en-GB" dirty="0"/>
              <a:t>At inference time, the pipeline pulls live observations from NOAA / National Weather Service (NWS) to build the most recent window and produce the next-hour forecast.</a:t>
            </a:r>
          </a:p>
          <a:p>
            <a:endParaRPr lang="en-GB" dirty="0"/>
          </a:p>
          <a:p>
            <a:r>
              <a:rPr lang="en-GB" b="1" dirty="0"/>
              <a:t>Historical (training) data — </a:t>
            </a:r>
            <a:r>
              <a:rPr lang="en-GB" b="1" dirty="0" err="1"/>
              <a:t>Meteostat</a:t>
            </a:r>
            <a:r>
              <a:rPr lang="en-GB" b="1" dirty="0"/>
              <a:t> (via </a:t>
            </a:r>
            <a:r>
              <a:rPr lang="en-GB" b="1" dirty="0" err="1"/>
              <a:t>RapidAPI</a:t>
            </a:r>
            <a:r>
              <a:rPr lang="en-GB" b="1" dirty="0"/>
              <a:t>).</a:t>
            </a:r>
            <a:endParaRPr lang="ru-RU" b="1" dirty="0"/>
          </a:p>
          <a:p>
            <a:br>
              <a:rPr lang="en-GB" dirty="0"/>
            </a:br>
            <a:r>
              <a:rPr lang="en-GB" dirty="0"/>
              <a:t>The endpoints for station’s data, typically:</a:t>
            </a:r>
            <a:endParaRPr lang="ru-RU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GET </a:t>
            </a:r>
            <a:r>
              <a:rPr lang="en-US" sz="1200" dirty="0"/>
              <a:t>/point/</a:t>
            </a:r>
            <a:r>
              <a:rPr lang="en-US" sz="1200" dirty="0" err="1"/>
              <a:t>hourly?lat</a:t>
            </a:r>
            <a:r>
              <a:rPr lang="en-US" sz="1200" dirty="0"/>
              <a:t>={</a:t>
            </a:r>
            <a:r>
              <a:rPr lang="en-US" sz="1200" dirty="0" err="1"/>
              <a:t>lat</a:t>
            </a:r>
            <a:r>
              <a:rPr lang="en-US" sz="1200" dirty="0"/>
              <a:t>}&amp;</a:t>
            </a:r>
            <a:r>
              <a:rPr lang="en-US" sz="1200" dirty="0" err="1"/>
              <a:t>lon</a:t>
            </a:r>
            <a:r>
              <a:rPr lang="en-US" sz="1200" dirty="0"/>
              <a:t>={</a:t>
            </a:r>
            <a:r>
              <a:rPr lang="en-US" sz="1200" dirty="0" err="1"/>
              <a:t>lon</a:t>
            </a:r>
            <a:r>
              <a:rPr lang="en-US" sz="1200" dirty="0"/>
              <a:t>}&amp;start={YYYY-MM-DD}&amp;end={YYYY-MM-DD}&amp;</a:t>
            </a:r>
            <a:r>
              <a:rPr lang="en-US" sz="1200" dirty="0" err="1"/>
              <a:t>tz</a:t>
            </a:r>
            <a:r>
              <a:rPr lang="en-US" sz="1200" dirty="0"/>
              <a:t>=</a:t>
            </a:r>
            <a:r>
              <a:rPr lang="en-US" sz="1200" dirty="0" err="1"/>
              <a:t>UTC&amp;units</a:t>
            </a:r>
            <a:r>
              <a:rPr lang="en-US" sz="1200" dirty="0"/>
              <a:t>=</a:t>
            </a:r>
            <a:r>
              <a:rPr lang="en-US" sz="1200" dirty="0" err="1"/>
              <a:t>metric&amp;model</a:t>
            </a:r>
            <a:r>
              <a:rPr lang="en-US" sz="1200" dirty="0"/>
              <a:t>=true</a:t>
            </a:r>
            <a:endParaRPr lang="ru-RU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 </a:t>
            </a:r>
            <a:r>
              <a:rPr lang="en-US" sz="1400" dirty="0"/>
              <a:t>GET </a:t>
            </a:r>
            <a:r>
              <a:rPr lang="en-US" sz="1200" dirty="0"/>
              <a:t>/stations/</a:t>
            </a:r>
            <a:r>
              <a:rPr lang="en-US" sz="1200" dirty="0" err="1"/>
              <a:t>nearby?lat</a:t>
            </a:r>
            <a:r>
              <a:rPr lang="en-US" sz="1200" dirty="0"/>
              <a:t>={</a:t>
            </a:r>
            <a:r>
              <a:rPr lang="en-US" sz="1200" dirty="0" err="1"/>
              <a:t>lat</a:t>
            </a:r>
            <a:r>
              <a:rPr lang="en-US" sz="1200" dirty="0"/>
              <a:t>}&amp;</a:t>
            </a:r>
            <a:r>
              <a:rPr lang="en-US" sz="1200" dirty="0" err="1"/>
              <a:t>lon</a:t>
            </a:r>
            <a:r>
              <a:rPr lang="en-US" sz="1200" dirty="0"/>
              <a:t>={</a:t>
            </a:r>
            <a:r>
              <a:rPr lang="en-US" sz="1200" dirty="0" err="1"/>
              <a:t>lon</a:t>
            </a:r>
            <a:r>
              <a:rPr lang="en-US" sz="1200" dirty="0"/>
              <a:t>}&amp;radius=...&amp;limit=1</a:t>
            </a:r>
            <a:endParaRPr lang="ru-RU" sz="1200" dirty="0"/>
          </a:p>
          <a:p>
            <a:br>
              <a:rPr lang="en-US" dirty="0"/>
            </a:br>
            <a:r>
              <a:rPr lang="en-US" b="1" dirty="0" err="1"/>
              <a:t>Meteostat</a:t>
            </a:r>
            <a:r>
              <a:rPr lang="en-US" dirty="0"/>
              <a:t> via </a:t>
            </a:r>
            <a:r>
              <a:rPr lang="en-US" b="1" dirty="0" err="1"/>
              <a:t>RapidAPI</a:t>
            </a:r>
            <a:r>
              <a:rPr lang="en-US" dirty="0"/>
              <a:t>. Sign-up is straightforward and not covered here.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E0B57A-7D33-A909-646B-C7BBBF2DC067}"/>
              </a:ext>
            </a:extLst>
          </p:cNvPr>
          <p:cNvSpPr txBox="1"/>
          <p:nvPr/>
        </p:nvSpPr>
        <p:spPr>
          <a:xfrm>
            <a:off x="584200" y="241300"/>
            <a:ext cx="81534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Live (inference) data — NOAA / NWS.</a:t>
            </a:r>
            <a:endParaRPr lang="ru-RU" b="1" dirty="0"/>
          </a:p>
          <a:p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GET</a:t>
            </a:r>
            <a:r>
              <a:rPr lang="en-GB" sz="1200" dirty="0"/>
              <a:t> /points/{</a:t>
            </a:r>
            <a:r>
              <a:rPr lang="en-GB" sz="1200" dirty="0" err="1"/>
              <a:t>lat</a:t>
            </a:r>
            <a:r>
              <a:rPr lang="en-GB" sz="1200" dirty="0"/>
              <a:t>},{</a:t>
            </a:r>
            <a:r>
              <a:rPr lang="en-GB" sz="1200" dirty="0" err="1"/>
              <a:t>lon</a:t>
            </a:r>
            <a:r>
              <a:rPr lang="en-GB" sz="1200" dirty="0"/>
              <a:t>}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GB" sz="1400" dirty="0"/>
              <a:t> gives the responsible grid and the list of nearby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GET </a:t>
            </a:r>
            <a:r>
              <a:rPr lang="en-GB" sz="1200" dirty="0"/>
              <a:t>/stations/{STATION_ID}/observations/latest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GB" sz="1400" dirty="0"/>
              <a:t> returns the latest observation used to close the input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r>
              <a:rPr lang="en-GB" b="1" dirty="0"/>
              <a:t>Example </a:t>
            </a:r>
            <a:r>
              <a:rPr lang="en-GB" b="1" dirty="0" err="1"/>
              <a:t>Meteostat</a:t>
            </a:r>
            <a:r>
              <a:rPr lang="en-GB" b="1" dirty="0"/>
              <a:t> JSON (hourly history).</a:t>
            </a:r>
            <a:br>
              <a:rPr lang="en-GB" dirty="0"/>
            </a:br>
            <a:r>
              <a:rPr lang="en-GB" dirty="0"/>
              <a:t>(The sample below shows the structure JSON data for training.)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B5FECD-4A3B-A6C1-AD85-C2369CE92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3429000"/>
            <a:ext cx="8318500" cy="22148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4EA242-9733-173F-6B33-FD71C75B18FE}"/>
              </a:ext>
            </a:extLst>
          </p:cNvPr>
          <p:cNvSpPr txBox="1"/>
          <p:nvPr/>
        </p:nvSpPr>
        <p:spPr>
          <a:xfrm>
            <a:off x="450850" y="5410200"/>
            <a:ext cx="778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97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B98A2-D16E-5986-C90B-D6BAE911CCDB}"/>
              </a:ext>
            </a:extLst>
          </p:cNvPr>
          <p:cNvSpPr txBox="1"/>
          <p:nvPr/>
        </p:nvSpPr>
        <p:spPr>
          <a:xfrm>
            <a:off x="444500" y="570984"/>
            <a:ext cx="842645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Fields for which the data would be predicted (per node, hourly):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temp</a:t>
            </a:r>
            <a:r>
              <a:rPr lang="en-GB" sz="1600" dirty="0"/>
              <a:t> — air temperature, °C (converted to °F).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/>
              <a:t>wspd</a:t>
            </a:r>
            <a:r>
              <a:rPr lang="en-GB" sz="1600" dirty="0"/>
              <a:t> — wind speed, km/h (converted to </a:t>
            </a:r>
            <a:r>
              <a:rPr lang="en-GB" sz="1600" b="1" dirty="0"/>
              <a:t>m/s</a:t>
            </a:r>
            <a:r>
              <a:rPr lang="en-GB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rhum</a:t>
            </a:r>
            <a:r>
              <a:rPr lang="en-GB" sz="1600" dirty="0"/>
              <a:t> — relative humidity,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snow</a:t>
            </a:r>
            <a:r>
              <a:rPr lang="en-GB" sz="1600" dirty="0"/>
              <a:t> — snowfall proxy, mm (treated as </a:t>
            </a:r>
            <a:r>
              <a:rPr lang="en-GB" sz="1600" b="1" dirty="0"/>
              <a:t>mm/h</a:t>
            </a:r>
            <a:r>
              <a:rPr lang="en-GB" sz="1600" dirty="0"/>
              <a:t> rate when available).</a:t>
            </a:r>
          </a:p>
          <a:p>
            <a:endParaRPr lang="en-GB" dirty="0"/>
          </a:p>
          <a:p>
            <a:br>
              <a:rPr lang="en-GB" dirty="0"/>
            </a:br>
            <a:r>
              <a:rPr lang="en-GB" dirty="0"/>
              <a:t>The “</a:t>
            </a:r>
            <a:r>
              <a:rPr lang="en-GB" b="1" dirty="0"/>
              <a:t>predictions_next_hour.csv</a:t>
            </a:r>
            <a:r>
              <a:rPr lang="en-GB" dirty="0"/>
              <a:t>” report contains </a:t>
            </a:r>
            <a:r>
              <a:rPr lang="en-GB" b="1" dirty="0"/>
              <a:t>node-level</a:t>
            </a:r>
            <a:r>
              <a:rPr lang="en-GB" dirty="0"/>
              <a:t> next-hour predictions with human-readable columns.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Output columns in CSV file: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Node Name — </a:t>
            </a:r>
            <a:r>
              <a:rPr lang="en-GB" sz="1600" dirty="0"/>
              <a:t>city name (graph node).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Future Date — </a:t>
            </a:r>
            <a:r>
              <a:rPr lang="en-GB" sz="1600" dirty="0"/>
              <a:t>New York local time, rounded to the hour, +1 hour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Air temperature (F) — </a:t>
            </a:r>
            <a:r>
              <a:rPr lang="en-GB" sz="1600" dirty="0"/>
              <a:t>predicted next-hour temperature in </a:t>
            </a:r>
            <a:r>
              <a:rPr lang="en-GB" sz="1600" b="1" dirty="0"/>
              <a:t>°F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Wind Speed (m/s) — </a:t>
            </a:r>
            <a:r>
              <a:rPr lang="en-GB" sz="1600" dirty="0"/>
              <a:t>predicted next-hour wind speed (m/s)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Humidity (%) — </a:t>
            </a:r>
            <a:r>
              <a:rPr lang="en-GB" sz="1600" dirty="0"/>
              <a:t>predicted next-hour relative humidity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Snowfall (mm/h) — </a:t>
            </a:r>
            <a:r>
              <a:rPr lang="en-GB" sz="1600" dirty="0"/>
              <a:t>predicted next-hour snowfall rate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650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95030" y="2767106"/>
            <a:ext cx="2160621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Output (CSV)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BC9418-C68F-A031-4878-CE985F72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080" y="663462"/>
            <a:ext cx="5847989" cy="49372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2391" y="5633765"/>
            <a:ext cx="2556416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600"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Actual vs Predicted temperature for a sample city (small residual error).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26" y="390832"/>
            <a:ext cx="6770211" cy="4519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1760</Words>
  <Application>Microsoft Office PowerPoint</Application>
  <PresentationFormat>On-screen Show (4:3)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 Math</vt:lpstr>
      <vt:lpstr>Wingdings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Roman Cuciuc</cp:lastModifiedBy>
  <cp:revision>55</cp:revision>
  <dcterms:created xsi:type="dcterms:W3CDTF">2013-01-27T09:14:16Z</dcterms:created>
  <dcterms:modified xsi:type="dcterms:W3CDTF">2025-12-01T03:23:21Z</dcterms:modified>
  <cp:category/>
</cp:coreProperties>
</file>